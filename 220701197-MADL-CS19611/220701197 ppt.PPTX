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80" r:id="rId2"/>
    <p:sldId id="366" r:id="rId3"/>
    <p:sldId id="380" r:id="rId4"/>
    <p:sldId id="383" r:id="rId5"/>
    <p:sldId id="385" r:id="rId6"/>
    <p:sldId id="386" r:id="rId7"/>
    <p:sldId id="387" r:id="rId8"/>
    <p:sldId id="400" r:id="rId9"/>
    <p:sldId id="388" r:id="rId10"/>
    <p:sldId id="391" r:id="rId11"/>
    <p:sldId id="393" r:id="rId12"/>
    <p:sldId id="394" r:id="rId13"/>
    <p:sldId id="395" r:id="rId14"/>
    <p:sldId id="28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90" d="100"/>
          <a:sy n="90" d="100"/>
        </p:scale>
        <p:origin x="134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5/13/2025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5/13/2025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5DD5F-8603-6BA4-8FB9-4AF2DE60E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DAB70-D7DF-BE5D-50C1-773081188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0ECFD-1366-13A2-943E-BCA304D9E8D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F2009E2-5F91-C76F-1290-58B7E271E6EF}"/>
              </a:ext>
            </a:extLst>
          </p:cNvPr>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868759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hyperlink" Target="https://github.com/TruthorDareApp/Truth-or-Dare"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72516" y="986564"/>
            <a:ext cx="9216516" cy="5416252"/>
            <a:chOff x="-72516" y="986564"/>
            <a:chExt cx="9216516" cy="5416252"/>
          </a:xfrm>
        </p:grpSpPr>
        <p:sp>
          <p:nvSpPr>
            <p:cNvPr id="22" name="TextBox 21"/>
            <p:cNvSpPr txBox="1"/>
            <p:nvPr/>
          </p:nvSpPr>
          <p:spPr>
            <a:xfrm>
              <a:off x="251520" y="4833156"/>
              <a:ext cx="6518455" cy="1569660"/>
            </a:xfrm>
            <a:prstGeom prst="rect">
              <a:avLst/>
            </a:prstGeom>
            <a:noFill/>
          </p:spPr>
          <p:txBody>
            <a:bodyPr wrap="square" rtlCol="0">
              <a:spAutoFit/>
            </a:bodyPr>
            <a:lstStyle/>
            <a:p>
              <a:r>
                <a:rPr lang="en-US" sz="2400" b="1" dirty="0"/>
                <a:t>2116220701197</a:t>
              </a:r>
            </a:p>
            <a:p>
              <a:r>
                <a:rPr lang="en-US" sz="2400" b="1" dirty="0"/>
                <a:t>N.PRANNOV SHABARI</a:t>
              </a:r>
            </a:p>
            <a:p>
              <a:r>
                <a:rPr lang="en-US" sz="2400" b="1" dirty="0"/>
                <a:t>Mr. Bhuvaneswaran B, M.E. </a:t>
              </a:r>
            </a:p>
            <a:p>
              <a:r>
                <a:rPr lang="en-US" sz="2400" b="1" dirty="0"/>
                <a:t>Supervisor</a:t>
              </a:r>
            </a:p>
          </p:txBody>
        </p:sp>
        <p:grpSp>
          <p:nvGrpSpPr>
            <p:cNvPr id="43" name="Group 42"/>
            <p:cNvGrpSpPr/>
            <p:nvPr/>
          </p:nvGrpSpPr>
          <p:grpSpPr>
            <a:xfrm>
              <a:off x="-72516" y="986564"/>
              <a:ext cx="9216516" cy="3628907"/>
              <a:chOff x="-72516" y="986564"/>
              <a:chExt cx="9216516"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72516" y="986564"/>
                <a:ext cx="4072741" cy="1075928"/>
                <a:chOff x="-95346" y="1011603"/>
                <a:chExt cx="5354902"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95346" y="1134069"/>
                  <a:ext cx="5017223" cy="830997"/>
                </a:xfrm>
                <a:prstGeom prst="rect">
                  <a:avLst/>
                </a:prstGeom>
                <a:noFill/>
              </p:spPr>
              <p:txBody>
                <a:bodyPr wrap="square" rtlCol="0" anchor="ctr">
                  <a:spAutoFit/>
                </a:bodyPr>
                <a:lstStyle/>
                <a:p>
                  <a:pPr algn="ctr"/>
                  <a:r>
                    <a:rPr lang="en-US" sz="2400" b="1" dirty="0">
                      <a:solidFill>
                        <a:schemeClr val="bg1"/>
                      </a:solidFill>
                      <a:ea typeface="Open Sans Light" panose="020B0306030504020204" pitchFamily="34" charset="0"/>
                      <a:cs typeface="Open Sans Light" panose="020B0306030504020204" pitchFamily="34" charset="0"/>
                    </a:rPr>
                    <a:t>Mobile Application Development Laboratory</a:t>
                  </a:r>
                </a:p>
              </p:txBody>
            </p:sp>
          </p:grpSp>
          <p:sp>
            <p:nvSpPr>
              <p:cNvPr id="48" name="TextBox 47"/>
              <p:cNvSpPr txBox="1"/>
              <p:nvPr/>
            </p:nvSpPr>
            <p:spPr>
              <a:xfrm>
                <a:off x="235073" y="2053855"/>
                <a:ext cx="4188156" cy="2554545"/>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TRUTHDARE: SPIN THE BOTTLE FUN GAME</a:t>
                </a:r>
                <a:endParaRPr lang="en-US" sz="4000" b="1" dirty="0">
                  <a:solidFill>
                    <a:schemeClr val="bg1"/>
                  </a:solidFill>
                  <a:latin typeface="Times New Roman" panose="02020603050405020304" pitchFamily="18" charset="0"/>
                  <a:ea typeface="Open Sans Bold" panose="020B0806030504020204" pitchFamily="34" charset="0"/>
                  <a:cs typeface="Times New Roman" panose="02020603050405020304" pitchFamily="18"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803813"/>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190500" y="1016732"/>
            <a:ext cx="8763000" cy="5334000"/>
          </a:xfrm>
        </p:spPr>
        <p:txBody>
          <a:bodyPr>
            <a:noAutofit/>
          </a:bodyPr>
          <a:lstStyle/>
          <a:p>
            <a:r>
              <a:rPr lang="en-US" sz="1800"/>
              <a:t>Truth or Dare </a:t>
            </a:r>
            <a:r>
              <a:rPr lang="en-US" sz="1800" dirty="0"/>
              <a:t>MAD is an interactive and engaging mobile application that recreates the timeless fun of the "Spin the Bottle" game for the digital era. Designed primarily for Android devices, the application delivers a lively gaming experience where users spin a virtual bottle and are prompted to choose between two options: "Truth" or "Dare." Players can respond to a wide selection of preloaded questions and challenges or enrich the game by adding their own customized truths and dares, ensuring a unique and personalized experience each time. The application focuses on delivering a smooth, realistic bottle-spinning animation and a highly intuitive user interface following modern mobile UI/UX best practices. Emphasis has been placed on ease of navigation, responsive design, and dynamic content management to maximize user enjoyment. </a:t>
            </a:r>
            <a:r>
              <a:rPr lang="en-US" sz="1800" dirty="0" err="1"/>
              <a:t>TruthDare</a:t>
            </a:r>
            <a:r>
              <a:rPr lang="en-US" sz="1800" dirty="0"/>
              <a:t> MAD is lightweight, ensuring high performance even on devices with modest specifications. From a technical standpoint, the project demonstrates essential mobile application development skills, such as event-driven programming, animation handling, user data management, and persistent storage through local databases (SQLite). Future expansion possibilities, including multiplayer support and enhanced gamification features, position </a:t>
            </a:r>
            <a:r>
              <a:rPr lang="en-US" sz="1800" dirty="0" err="1"/>
              <a:t>TruthDare</a:t>
            </a:r>
            <a:r>
              <a:rPr lang="en-US" sz="1800" dirty="0"/>
              <a:t> MAD as not just a casual party app but a scalable, customizable platform for entertainment.</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Need for the 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None/>
            </a:pPr>
            <a:r>
              <a:rPr lang="en-US" sz="1900" dirty="0"/>
              <a:t>The traditional </a:t>
            </a:r>
            <a:r>
              <a:rPr lang="en-US" sz="1900" i="1" dirty="0"/>
              <a:t>Truth or Dare</a:t>
            </a:r>
            <a:r>
              <a:rPr lang="en-US" sz="1900" dirty="0"/>
              <a:t> game has been a popular social activity for decades, often played using a physical bottle to select players at random. However, with the growing prevalence of smartphones and digital platforms, there is an increasing demand for modern, portable, and hygienic alternatives to such physical games. The proposed system, a </a:t>
            </a:r>
            <a:r>
              <a:rPr lang="en-US" sz="1900" i="1" dirty="0"/>
              <a:t>Truth or Dare Spin the Bottle</a:t>
            </a:r>
            <a:r>
              <a:rPr lang="en-US" sz="1900" dirty="0"/>
              <a:t> Android application developed using Kotlin, addresses this need by digitizing the experience, making it more accessible and engaging for users.</a:t>
            </a:r>
          </a:p>
          <a:p>
            <a:pPr>
              <a:buNone/>
            </a:pPr>
            <a:r>
              <a:rPr lang="en-US" sz="1900" dirty="0"/>
              <a:t>The key motivations for this system include:</a:t>
            </a:r>
          </a:p>
          <a:p>
            <a:pPr>
              <a:buFont typeface="Arial" panose="020B0604020202020204" pitchFamily="34" charset="0"/>
              <a:buChar char="•"/>
            </a:pPr>
            <a:r>
              <a:rPr lang="en-US" sz="1800" b="1" dirty="0"/>
              <a:t>Convenience and Accessibility</a:t>
            </a:r>
            <a:r>
              <a:rPr lang="en-US" sz="1800" dirty="0"/>
              <a:t>: Unlike the physical version, the mobile app can be played anywhere and anytime without the need for props.</a:t>
            </a:r>
          </a:p>
          <a:p>
            <a:pPr>
              <a:buFont typeface="Arial" panose="020B0604020202020204" pitchFamily="34" charset="0"/>
              <a:buChar char="•"/>
            </a:pPr>
            <a:r>
              <a:rPr lang="en-US" sz="1800" b="1" dirty="0"/>
              <a:t>Randomization Accuracy</a:t>
            </a:r>
            <a:r>
              <a:rPr lang="en-US" sz="1800" dirty="0"/>
              <a:t>: The digital spinning logic ensures fair and unbiased player selection, enhancing the gameplay experience.</a:t>
            </a:r>
          </a:p>
          <a:p>
            <a:pPr>
              <a:buFont typeface="Arial" panose="020B0604020202020204" pitchFamily="34" charset="0"/>
              <a:buChar char="•"/>
            </a:pPr>
            <a:r>
              <a:rPr lang="en-US" sz="1800" b="1" dirty="0"/>
              <a:t>Customization and Variety</a:t>
            </a:r>
            <a:r>
              <a:rPr lang="en-US" sz="1800" dirty="0"/>
              <a:t>: Users can add their own truth and dare challenges, allowing for a more personalized and dynamic game.</a:t>
            </a:r>
          </a:p>
          <a:p>
            <a:pPr marL="0" indent="0">
              <a:buNone/>
            </a:pP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Advantages of the 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a:buNone/>
            </a:pPr>
            <a:endParaRPr lang="en-US" sz="3800" b="1" dirty="0"/>
          </a:p>
          <a:p>
            <a:pPr>
              <a:buFont typeface="+mj-lt"/>
              <a:buAutoNum type="arabicPeriod"/>
            </a:pPr>
            <a:r>
              <a:rPr lang="en-US" sz="7200" b="1" dirty="0"/>
              <a:t>Portability</a:t>
            </a:r>
            <a:br>
              <a:rPr lang="en-US" sz="7200" dirty="0"/>
            </a:br>
            <a:r>
              <a:rPr lang="en-US" sz="7200" dirty="0"/>
              <a:t>The app can be used anywhere and anytime on a smartphone, eliminating the need for carrying a physical bottle or game setup.</a:t>
            </a:r>
          </a:p>
          <a:p>
            <a:pPr>
              <a:buFont typeface="+mj-lt"/>
              <a:buAutoNum type="arabicPeriod"/>
            </a:pPr>
            <a:r>
              <a:rPr lang="en-US" sz="7200" b="1" dirty="0"/>
              <a:t>Fair and Unbiased Selection</a:t>
            </a:r>
            <a:br>
              <a:rPr lang="en-US" sz="7200" dirty="0"/>
            </a:br>
            <a:r>
              <a:rPr lang="en-US" sz="7200" dirty="0"/>
              <a:t>The digital spinning mechanism ensures random and fair player selection, avoiding disputes common in the physical version.</a:t>
            </a:r>
          </a:p>
          <a:p>
            <a:pPr>
              <a:buFont typeface="+mj-lt"/>
              <a:buAutoNum type="arabicPeriod"/>
            </a:pPr>
            <a:r>
              <a:rPr lang="en-US" sz="7200" b="1" dirty="0"/>
              <a:t>Hygienic and Safe</a:t>
            </a:r>
            <a:br>
              <a:rPr lang="en-US" sz="7200" dirty="0"/>
            </a:br>
            <a:r>
              <a:rPr lang="en-US" sz="7200" dirty="0"/>
              <a:t>As there is no need to physically spin a shared bottle, the app offers a hygienic alternative, especially important in post-pandemic times.</a:t>
            </a:r>
          </a:p>
          <a:p>
            <a:pPr>
              <a:buFont typeface="+mj-lt"/>
              <a:buAutoNum type="arabicPeriod"/>
            </a:pPr>
            <a:r>
              <a:rPr lang="en-US" sz="7200" b="1" dirty="0"/>
              <a:t>Customizable Gameplay</a:t>
            </a:r>
            <a:br>
              <a:rPr lang="en-US" sz="7200" dirty="0"/>
            </a:br>
            <a:r>
              <a:rPr lang="en-US" sz="7200" dirty="0"/>
              <a:t>Users can easily add, edit, or remove truth and dare questions, allowing for personalized and endlessly varied game sessions.</a:t>
            </a:r>
          </a:p>
          <a:p>
            <a:pPr>
              <a:buFont typeface="+mj-lt"/>
              <a:buAutoNum type="arabicPeriod"/>
            </a:pPr>
            <a:r>
              <a:rPr lang="en-US" sz="7200" b="1" dirty="0"/>
              <a:t>Enhanced User Experience</a:t>
            </a:r>
            <a:br>
              <a:rPr lang="en-US" sz="7200" dirty="0"/>
            </a:br>
            <a:r>
              <a:rPr lang="en-US" sz="7200" dirty="0"/>
              <a:t>Features such as sound effects, animations, timers, and different difficulty levels make the game more engaging and entertaining.</a:t>
            </a:r>
          </a:p>
          <a:p>
            <a:pPr>
              <a:buFont typeface="+mj-lt"/>
              <a:buAutoNum type="arabicPeriod"/>
            </a:pPr>
            <a:r>
              <a:rPr lang="en-US" sz="7200" b="1" dirty="0"/>
              <a:t>No Setup Required</a:t>
            </a:r>
            <a:br>
              <a:rPr lang="en-US" sz="7200" dirty="0"/>
            </a:br>
            <a:r>
              <a:rPr lang="en-US" sz="7200" dirty="0"/>
              <a:t>Instant playability without the need for physical arrangements makes it ideal for spontaneous gatherings or online group sessions.</a:t>
            </a:r>
          </a:p>
          <a:p>
            <a:pPr marL="0" indent="0">
              <a:buNone/>
            </a:pP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Main Objective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3A4A9E8-F2CB-A976-D1C3-089112C6CD1E}"/>
              </a:ext>
            </a:extLst>
          </p:cNvPr>
          <p:cNvSpPr txBox="1"/>
          <p:nvPr/>
        </p:nvSpPr>
        <p:spPr>
          <a:xfrm>
            <a:off x="287524" y="914400"/>
            <a:ext cx="8665976" cy="5909310"/>
          </a:xfrm>
          <a:prstGeom prst="rect">
            <a:avLst/>
          </a:prstGeom>
          <a:noFill/>
        </p:spPr>
        <p:txBody>
          <a:bodyPr wrap="square" rtlCol="0">
            <a:spAutoFit/>
          </a:bodyPr>
          <a:lstStyle/>
          <a:p>
            <a:pPr>
              <a:buNone/>
            </a:pPr>
            <a:r>
              <a:rPr lang="en-US" dirty="0"/>
              <a:t>The main objective of this project is to design and develop an innovative, interactive, and user-friendly </a:t>
            </a:r>
            <a:r>
              <a:rPr lang="en-US" i="1" dirty="0"/>
              <a:t>Truth or Dare Spin the Bottle</a:t>
            </a:r>
            <a:r>
              <a:rPr lang="en-US" dirty="0"/>
              <a:t> mobile application using Android development in Kotlin. This application aims to modernize the classic social game by providing a digital platform that offers convenience, portability, and enhanced entertainment value for users of all ages.</a:t>
            </a:r>
          </a:p>
          <a:p>
            <a:pPr>
              <a:buNone/>
            </a:pPr>
            <a:r>
              <a:rPr lang="en-US" dirty="0"/>
              <a:t>By eliminating the need for physical objects like a spinning bottle, the app provides a safe, hygienic, and accessible alternative that can be used anytime and anywhere. The core functionality revolves around a virtual bottle spin mechanism that randomly and fairly selects players, thereby maintaining the excitement and unpredictability of the traditional game.</a:t>
            </a:r>
          </a:p>
          <a:p>
            <a:pPr>
              <a:buNone/>
            </a:pPr>
            <a:r>
              <a:rPr lang="en-US" dirty="0"/>
              <a:t>Furthermore, the system aims to offer high levels of customization by allowing users to add, edit, or remove truth and dare challenges, ensuring a personalized and dynamic gameplay experience. Additional features such as engaging animations, sound effects, difficulty levels, and timers are integrated to enrich the user experience and make the game more interactive and enjoyable.</a:t>
            </a:r>
          </a:p>
          <a:p>
            <a:r>
              <a:rPr lang="en-US" dirty="0"/>
              <a:t>The application is built using Kotlin and follows modern Android development practices, ensuring efficient performance, smooth navigation, and compatibility with a wide range of Android devices. Ultimately, this project seeks to provide a scalable and feature-rich mobile solution that not only preserves the essence of the traditional </a:t>
            </a:r>
            <a:r>
              <a:rPr lang="en-US" i="1" dirty="0"/>
              <a:t>Truth or Dare</a:t>
            </a:r>
            <a:r>
              <a:rPr lang="en-US" dirty="0"/>
              <a:t> game but also elevates it with the capabilities of digital technology.</a:t>
            </a:r>
          </a:p>
          <a:p>
            <a:endParaRPr lang="en-IN"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Architecture</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2D45246-FF07-9209-CD35-DC85D4CA11F0}"/>
              </a:ext>
            </a:extLst>
          </p:cNvPr>
          <p:cNvPicPr>
            <a:picLocks noGrp="1" noChangeAspect="1"/>
          </p:cNvPicPr>
          <p:nvPr>
            <p:ph idx="1"/>
          </p:nvPr>
        </p:nvPicPr>
        <p:blipFill>
          <a:blip r:embed="rId4"/>
          <a:stretch>
            <a:fillRect/>
          </a:stretch>
        </p:blipFill>
        <p:spPr>
          <a:xfrm>
            <a:off x="194692" y="1137918"/>
            <a:ext cx="3229426" cy="4582164"/>
          </a:xfrm>
        </p:spPr>
      </p:pic>
      <p:pic>
        <p:nvPicPr>
          <p:cNvPr id="7" name="Picture 6">
            <a:extLst>
              <a:ext uri="{FF2B5EF4-FFF2-40B4-BE49-F238E27FC236}">
                <a16:creationId xmlns:a16="http://schemas.microsoft.com/office/drawing/2014/main" id="{0E234447-DFAA-E138-C599-F923AE9B85DB}"/>
              </a:ext>
            </a:extLst>
          </p:cNvPr>
          <p:cNvPicPr>
            <a:picLocks noChangeAspect="1"/>
          </p:cNvPicPr>
          <p:nvPr/>
        </p:nvPicPr>
        <p:blipFill>
          <a:blip r:embed="rId5"/>
          <a:stretch>
            <a:fillRect/>
          </a:stretch>
        </p:blipFill>
        <p:spPr>
          <a:xfrm>
            <a:off x="5220072" y="1137918"/>
            <a:ext cx="2952328" cy="4343310"/>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System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AutoNum type="arabicPeriod"/>
            </a:pPr>
            <a:r>
              <a:rPr lang="en-IN" sz="2000" b="1" dirty="0">
                <a:latin typeface="Times New Roman" panose="02020603050405020304" pitchFamily="18" charset="0"/>
              </a:rPr>
              <a:t>Hardware Requirements</a:t>
            </a:r>
            <a:endParaRPr lang="en-IN" sz="1800" b="1" dirty="0">
              <a:latin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rPr>
              <a:t>Smartphone Device</a:t>
            </a:r>
            <a:endParaRPr lang="en-IN" sz="1800" dirty="0">
              <a:latin typeface="Times New Roman" panose="02020603050405020304" pitchFamily="18" charset="0"/>
            </a:endParaRPr>
          </a:p>
          <a:p>
            <a:pPr marL="742950" lvl="1" indent="-285750">
              <a:buFont typeface="Arial" panose="020B0604020202020204" pitchFamily="34" charset="0"/>
              <a:buChar char="•"/>
            </a:pPr>
            <a:r>
              <a:rPr lang="en-IN" sz="1800" dirty="0">
                <a:latin typeface="Times New Roman" panose="02020603050405020304" pitchFamily="18" charset="0"/>
              </a:rPr>
              <a:t>Minimum: Android 7.0 (Nougat) or higher</a:t>
            </a:r>
          </a:p>
          <a:p>
            <a:pPr marL="742950" lvl="1" indent="-285750">
              <a:buFont typeface="Arial" panose="020B0604020202020204" pitchFamily="34" charset="0"/>
              <a:buChar char="•"/>
            </a:pPr>
            <a:r>
              <a:rPr lang="en-IN" sz="1800" dirty="0">
                <a:latin typeface="Times New Roman" panose="02020603050405020304" pitchFamily="18" charset="0"/>
              </a:rPr>
              <a:t>RAM: 2 GB or more</a:t>
            </a:r>
          </a:p>
          <a:p>
            <a:pPr marL="742950" lvl="1" indent="-285750">
              <a:buFont typeface="Arial" panose="020B0604020202020204" pitchFamily="34" charset="0"/>
              <a:buChar char="•"/>
            </a:pPr>
            <a:r>
              <a:rPr lang="en-IN" sz="1800" dirty="0">
                <a:latin typeface="Times New Roman" panose="02020603050405020304" pitchFamily="18" charset="0"/>
              </a:rPr>
              <a:t>Storage: At least 50 MB free space</a:t>
            </a:r>
          </a:p>
          <a:p>
            <a:pPr marL="742950" lvl="1" indent="-285750">
              <a:buFont typeface="Arial" panose="020B0604020202020204" pitchFamily="34" charset="0"/>
              <a:buChar char="•"/>
            </a:pPr>
            <a:r>
              <a:rPr lang="en-IN" sz="1800" dirty="0">
                <a:latin typeface="Times New Roman" panose="02020603050405020304" pitchFamily="18" charset="0"/>
              </a:rPr>
              <a:t>Processor: Quad-core or better</a:t>
            </a:r>
          </a:p>
          <a:p>
            <a:pPr>
              <a:buFont typeface="Arial" panose="020B0604020202020204" pitchFamily="34" charset="0"/>
              <a:buChar char="•"/>
            </a:pPr>
            <a:r>
              <a:rPr lang="en-IN" sz="1800" b="1" dirty="0">
                <a:latin typeface="Times New Roman" panose="02020603050405020304" pitchFamily="18" charset="0"/>
              </a:rPr>
              <a:t>Development Machine (for Developers)</a:t>
            </a:r>
            <a:endParaRPr lang="en-IN" sz="1800" dirty="0">
              <a:latin typeface="Times New Roman" panose="02020603050405020304" pitchFamily="18" charset="0"/>
            </a:endParaRPr>
          </a:p>
          <a:p>
            <a:pPr marL="742950" lvl="1" indent="-285750">
              <a:buFont typeface="Arial" panose="020B0604020202020204" pitchFamily="34" charset="0"/>
              <a:buChar char="•"/>
            </a:pPr>
            <a:r>
              <a:rPr lang="en-IN" sz="1800" dirty="0">
                <a:latin typeface="Times New Roman" panose="02020603050405020304" pitchFamily="18" charset="0"/>
              </a:rPr>
              <a:t>Processor: Intel i5 or equivalent (minimum)</a:t>
            </a:r>
          </a:p>
          <a:p>
            <a:pPr marL="742950" lvl="1" indent="-285750">
              <a:buFont typeface="Arial" panose="020B0604020202020204" pitchFamily="34" charset="0"/>
              <a:buChar char="•"/>
            </a:pPr>
            <a:r>
              <a:rPr lang="en-IN" sz="1800" dirty="0">
                <a:latin typeface="Times New Roman" panose="02020603050405020304" pitchFamily="18" charset="0"/>
              </a:rPr>
              <a:t>RAM: 8 GB or more</a:t>
            </a:r>
          </a:p>
          <a:p>
            <a:pPr marL="742950" lvl="1" indent="-285750">
              <a:buFont typeface="Arial" panose="020B0604020202020204" pitchFamily="34" charset="0"/>
              <a:buChar char="•"/>
            </a:pPr>
            <a:r>
              <a:rPr lang="en-IN" sz="1800" dirty="0">
                <a:latin typeface="Times New Roman" panose="02020603050405020304" pitchFamily="18" charset="0"/>
              </a:rPr>
              <a:t>Storage: 500 GB HDD or 256 GB SSD (Recommended)</a:t>
            </a:r>
          </a:p>
          <a:p>
            <a:pPr marL="742950" lvl="1" indent="-285750">
              <a:buFont typeface="Arial" panose="020B0604020202020204" pitchFamily="34" charset="0"/>
              <a:buChar char="•"/>
            </a:pPr>
            <a:r>
              <a:rPr lang="en-IN" sz="1800" dirty="0">
                <a:latin typeface="Times New Roman" panose="02020603050405020304" pitchFamily="18" charset="0"/>
              </a:rPr>
              <a:t>Operating System: Windows 10/11, macOS, or Ubuntu</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DA5E-BBC1-BDA9-2A44-7E088EB3D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5D5F3-79A3-BDE9-16AF-7A7D0531B9BB}"/>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System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5529B6-21BD-95B6-294D-29D1B21DF850}"/>
              </a:ext>
            </a:extLst>
          </p:cNvPr>
          <p:cNvSpPr>
            <a:spLocks noGrp="1"/>
          </p:cNvSpPr>
          <p:nvPr>
            <p:ph idx="1"/>
          </p:nvPr>
        </p:nvSpPr>
        <p:spPr/>
        <p:txBody>
          <a:bodyPr>
            <a:normAutofit/>
          </a:bodyPr>
          <a:lstStyle/>
          <a:p>
            <a:pPr>
              <a:buNone/>
            </a:pPr>
            <a:r>
              <a:rPr lang="en-IN" sz="2000" b="1" dirty="0">
                <a:latin typeface="Times New Roman" panose="02020603050405020304" pitchFamily="18" charset="0"/>
              </a:rPr>
              <a:t>2. Software Requirements</a:t>
            </a:r>
            <a:endParaRPr lang="en-IN" sz="1800" b="1" dirty="0">
              <a:latin typeface="Times New Roman" panose="02020603050405020304" pitchFamily="18" charset="0"/>
            </a:endParaRPr>
          </a:p>
          <a:p>
            <a:pPr>
              <a:buFont typeface="Arial" panose="020B0604020202020204" pitchFamily="34" charset="0"/>
              <a:buChar char="•"/>
            </a:pPr>
            <a:r>
              <a:rPr lang="en-IN" sz="1800" b="1" dirty="0">
                <a:latin typeface="Times New Roman" panose="02020603050405020304" pitchFamily="18" charset="0"/>
              </a:rPr>
              <a:t>Development Tools</a:t>
            </a:r>
            <a:endParaRPr lang="en-IN" sz="1800" dirty="0">
              <a:latin typeface="Times New Roman" panose="02020603050405020304" pitchFamily="18" charset="0"/>
            </a:endParaRPr>
          </a:p>
          <a:p>
            <a:pPr marL="742950" lvl="1" indent="-285750">
              <a:buFont typeface="Arial" panose="020B0604020202020204" pitchFamily="34" charset="0"/>
              <a:buChar char="•"/>
            </a:pPr>
            <a:r>
              <a:rPr lang="en-IN" sz="1800" dirty="0">
                <a:latin typeface="Times New Roman" panose="02020603050405020304" pitchFamily="18" charset="0"/>
              </a:rPr>
              <a:t>Android Studio (version Arctic Fox or newer)</a:t>
            </a:r>
          </a:p>
          <a:p>
            <a:pPr marL="742950" lvl="1" indent="-285750">
              <a:buFont typeface="Arial" panose="020B0604020202020204" pitchFamily="34" charset="0"/>
              <a:buChar char="•"/>
            </a:pPr>
            <a:r>
              <a:rPr lang="en-IN" sz="1800" dirty="0">
                <a:latin typeface="Times New Roman" panose="02020603050405020304" pitchFamily="18" charset="0"/>
              </a:rPr>
              <a:t>Kotlin Plugin (Bundled with Android Studio)</a:t>
            </a:r>
          </a:p>
          <a:p>
            <a:pPr marL="742950" lvl="1" indent="-285750">
              <a:buFont typeface="Arial" panose="020B0604020202020204" pitchFamily="34" charset="0"/>
              <a:buChar char="•"/>
            </a:pPr>
            <a:r>
              <a:rPr lang="en-IN" sz="1800" dirty="0">
                <a:latin typeface="Times New Roman" panose="02020603050405020304" pitchFamily="18" charset="0"/>
              </a:rPr>
              <a:t>Gradle Build System</a:t>
            </a:r>
          </a:p>
          <a:p>
            <a:pPr>
              <a:buFont typeface="Arial" panose="020B0604020202020204" pitchFamily="34" charset="0"/>
              <a:buChar char="•"/>
            </a:pPr>
            <a:r>
              <a:rPr lang="en-IN" sz="1800" b="1" dirty="0">
                <a:latin typeface="Times New Roman" panose="02020603050405020304" pitchFamily="18" charset="0"/>
              </a:rPr>
              <a:t>Operating System (Development Environment)</a:t>
            </a:r>
            <a:endParaRPr lang="en-IN" sz="1800" dirty="0">
              <a:latin typeface="Times New Roman" panose="02020603050405020304" pitchFamily="18" charset="0"/>
            </a:endParaRPr>
          </a:p>
          <a:p>
            <a:pPr marL="742950" lvl="1" indent="-285750">
              <a:buFont typeface="Arial" panose="020B0604020202020204" pitchFamily="34" charset="0"/>
              <a:buChar char="•"/>
            </a:pPr>
            <a:r>
              <a:rPr lang="en-IN" sz="1800" dirty="0">
                <a:latin typeface="Times New Roman" panose="02020603050405020304" pitchFamily="18" charset="0"/>
              </a:rPr>
              <a:t>Windows 10 or higher</a:t>
            </a:r>
          </a:p>
          <a:p>
            <a:pPr marL="742950" lvl="1" indent="-285750">
              <a:buFont typeface="Arial" panose="020B0604020202020204" pitchFamily="34" charset="0"/>
              <a:buChar char="•"/>
            </a:pPr>
            <a:r>
              <a:rPr lang="en-IN" sz="1800" dirty="0">
                <a:latin typeface="Times New Roman" panose="02020603050405020304" pitchFamily="18" charset="0"/>
              </a:rPr>
              <a:t>macOS Mojave or higher</a:t>
            </a:r>
          </a:p>
          <a:p>
            <a:pPr marL="742950" lvl="1" indent="-285750">
              <a:buFont typeface="Arial" panose="020B0604020202020204" pitchFamily="34" charset="0"/>
              <a:buChar char="•"/>
            </a:pPr>
            <a:r>
              <a:rPr lang="en-IN" sz="1800" dirty="0">
                <a:latin typeface="Times New Roman" panose="02020603050405020304" pitchFamily="18" charset="0"/>
              </a:rPr>
              <a:t>Ubuntu 18.04 LTS or higher</a:t>
            </a:r>
          </a:p>
          <a:p>
            <a:pPr>
              <a:buFont typeface="Arial" panose="020B0604020202020204" pitchFamily="34" charset="0"/>
              <a:buChar char="•"/>
            </a:pPr>
            <a:r>
              <a:rPr lang="en-IN" sz="1800" b="1" dirty="0">
                <a:latin typeface="Times New Roman" panose="02020603050405020304" pitchFamily="18" charset="0"/>
              </a:rPr>
              <a:t>Android Device (for Running the App)</a:t>
            </a:r>
            <a:endParaRPr lang="en-IN" sz="1800" dirty="0">
              <a:latin typeface="Times New Roman" panose="02020603050405020304" pitchFamily="18" charset="0"/>
            </a:endParaRPr>
          </a:p>
          <a:p>
            <a:pPr marL="742950" lvl="1" indent="-285750">
              <a:buFont typeface="Arial" panose="020B0604020202020204" pitchFamily="34" charset="0"/>
              <a:buChar char="•"/>
            </a:pPr>
            <a:r>
              <a:rPr lang="en-IN" sz="1800" dirty="0">
                <a:latin typeface="Times New Roman" panose="02020603050405020304" pitchFamily="18" charset="0"/>
              </a:rPr>
              <a:t>Android version 7.0 (Nougat) or later</a:t>
            </a:r>
          </a:p>
          <a:p>
            <a:pPr marL="742950" lvl="1" indent="-285750">
              <a:buFont typeface="Arial" panose="020B0604020202020204" pitchFamily="34" charset="0"/>
              <a:buChar char="•"/>
            </a:pPr>
            <a:r>
              <a:rPr lang="en-IN" sz="1800" dirty="0">
                <a:latin typeface="Times New Roman" panose="02020603050405020304" pitchFamily="18" charset="0"/>
              </a:rPr>
              <a:t>Google Play Services (optional, if integrating ads or analytics)</a:t>
            </a:r>
          </a:p>
          <a:p>
            <a:pPr>
              <a:buNone/>
            </a:pPr>
            <a:endParaRPr lang="en-US" dirty="0"/>
          </a:p>
        </p:txBody>
      </p:sp>
    </p:spTree>
    <p:custDataLst>
      <p:tags r:id="rId1"/>
    </p:custDataLst>
    <p:extLst>
      <p:ext uri="{BB962C8B-B14F-4D97-AF65-F5344CB8AC3E}">
        <p14:creationId xmlns:p14="http://schemas.microsoft.com/office/powerpoint/2010/main" val="2228151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Functional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a:buNone/>
            </a:pPr>
            <a:r>
              <a:rPr lang="en-US" b="1" dirty="0">
                <a:latin typeface="Times New Roman" panose="02020603050405020304" pitchFamily="18" charset="0"/>
              </a:rPr>
              <a:t>Core Functionality</a:t>
            </a:r>
          </a:p>
          <a:p>
            <a:pPr>
              <a:buFont typeface="Arial" panose="020B0604020202020204" pitchFamily="34" charset="0"/>
              <a:buChar char="•"/>
            </a:pPr>
            <a:r>
              <a:rPr lang="en-US" b="1" dirty="0">
                <a:latin typeface="Times New Roman" panose="02020603050405020304" pitchFamily="18" charset="0"/>
              </a:rPr>
              <a:t>Virtual Bottle Spinner</a:t>
            </a:r>
            <a:r>
              <a:rPr lang="en-US" dirty="0">
                <a:latin typeface="Times New Roman" panose="02020603050405020304" pitchFamily="18" charset="0"/>
              </a:rPr>
              <a:t>: Simulates the classic "Spin the Bottle" game with realistic animations.</a:t>
            </a:r>
          </a:p>
          <a:p>
            <a:pPr>
              <a:buFont typeface="Arial" panose="020B0604020202020204" pitchFamily="34" charset="0"/>
              <a:buChar char="•"/>
            </a:pPr>
            <a:r>
              <a:rPr lang="en-US" b="1" dirty="0">
                <a:latin typeface="Times New Roman" panose="02020603050405020304" pitchFamily="18" charset="0"/>
              </a:rPr>
              <a:t>Truth or Dare Prompts</a:t>
            </a:r>
            <a:r>
              <a:rPr lang="en-US" dirty="0">
                <a:latin typeface="Times New Roman" panose="02020603050405020304" pitchFamily="18" charset="0"/>
              </a:rPr>
              <a:t>: Offers a variety of preloaded and customizable truth questions and dare challenges.</a:t>
            </a:r>
          </a:p>
          <a:p>
            <a:pPr>
              <a:buFont typeface="Arial" panose="020B0604020202020204" pitchFamily="34" charset="0"/>
              <a:buChar char="•"/>
            </a:pPr>
            <a:r>
              <a:rPr lang="en-US" b="1" dirty="0">
                <a:latin typeface="Times New Roman" panose="02020603050405020304" pitchFamily="18" charset="0"/>
              </a:rPr>
              <a:t>User Interaction</a:t>
            </a:r>
            <a:r>
              <a:rPr lang="en-US" dirty="0">
                <a:latin typeface="Times New Roman" panose="02020603050405020304" pitchFamily="18" charset="0"/>
              </a:rPr>
              <a:t>: Players take turns spinning the bottle and responding to the prompted truth or dare.</a:t>
            </a:r>
          </a:p>
          <a:p>
            <a:pPr>
              <a:buFont typeface="Arial" panose="020B0604020202020204" pitchFamily="34" charset="0"/>
              <a:buChar char="•"/>
            </a:pPr>
            <a:r>
              <a:rPr lang="en-US" b="1" dirty="0">
                <a:latin typeface="Times New Roman" panose="02020603050405020304" pitchFamily="18" charset="0"/>
              </a:rPr>
              <a:t>Custom Content</a:t>
            </a:r>
            <a:r>
              <a:rPr lang="en-US" dirty="0">
                <a:latin typeface="Times New Roman" panose="02020603050405020304" pitchFamily="18" charset="0"/>
              </a:rPr>
              <a:t>: Allows users to add their own truth and dare entries for a personalized experience.</a:t>
            </a:r>
          </a:p>
          <a:p>
            <a:pPr>
              <a:buNone/>
            </a:pPr>
            <a:r>
              <a:rPr lang="en-US" b="1" dirty="0">
                <a:latin typeface="Times New Roman" panose="02020603050405020304" pitchFamily="18" charset="0"/>
              </a:rPr>
              <a:t>User Interface &amp; Experience</a:t>
            </a:r>
          </a:p>
          <a:p>
            <a:pPr>
              <a:buFont typeface="Arial" panose="020B0604020202020204" pitchFamily="34" charset="0"/>
              <a:buChar char="•"/>
            </a:pPr>
            <a:r>
              <a:rPr lang="en-US" b="1" dirty="0">
                <a:latin typeface="Times New Roman" panose="02020603050405020304" pitchFamily="18" charset="0"/>
              </a:rPr>
              <a:t>Intuitive Navigation</a:t>
            </a:r>
            <a:r>
              <a:rPr lang="en-US" dirty="0">
                <a:latin typeface="Times New Roman" panose="02020603050405020304" pitchFamily="18" charset="0"/>
              </a:rPr>
              <a:t>: Designed for ease of use, ensuring a smooth user journey.</a:t>
            </a:r>
          </a:p>
          <a:p>
            <a:pPr>
              <a:buFont typeface="Arial" panose="020B0604020202020204" pitchFamily="34" charset="0"/>
              <a:buChar char="•"/>
            </a:pPr>
            <a:r>
              <a:rPr lang="en-US" b="1" dirty="0">
                <a:latin typeface="Times New Roman" panose="02020603050405020304" pitchFamily="18" charset="0"/>
              </a:rPr>
              <a:t>Responsive Design</a:t>
            </a:r>
            <a:r>
              <a:rPr lang="en-US" dirty="0">
                <a:latin typeface="Times New Roman" panose="02020603050405020304" pitchFamily="18" charset="0"/>
              </a:rPr>
              <a:t>: Optimized for various screen sizes and orientations.</a:t>
            </a:r>
          </a:p>
          <a:p>
            <a:pPr>
              <a:buFont typeface="Arial" panose="020B0604020202020204" pitchFamily="34" charset="0"/>
              <a:buChar char="•"/>
            </a:pPr>
            <a:r>
              <a:rPr lang="en-US" b="1" dirty="0">
                <a:latin typeface="Times New Roman" panose="02020603050405020304" pitchFamily="18" charset="0"/>
              </a:rPr>
              <a:t>Dynamic Content Management</a:t>
            </a:r>
            <a:r>
              <a:rPr lang="en-US" dirty="0">
                <a:latin typeface="Times New Roman" panose="02020603050405020304" pitchFamily="18" charset="0"/>
              </a:rPr>
              <a:t>: Enables seamless updates and additions to game content.</a:t>
            </a:r>
          </a:p>
          <a:p>
            <a:pPr marL="0" indent="0">
              <a:buNone/>
            </a:pPr>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148656F-ABD0-1ABC-9B26-71AE4B050DE7}"/>
              </a:ext>
            </a:extLst>
          </p:cNvPr>
          <p:cNvPicPr>
            <a:picLocks noGrp="1" noChangeAspect="1"/>
          </p:cNvPicPr>
          <p:nvPr>
            <p:ph idx="1"/>
          </p:nvPr>
        </p:nvPicPr>
        <p:blipFill>
          <a:blip r:embed="rId4"/>
          <a:stretch>
            <a:fillRect/>
          </a:stretch>
        </p:blipFill>
        <p:spPr>
          <a:xfrm>
            <a:off x="287524" y="1333207"/>
            <a:ext cx="2076740" cy="4191585"/>
          </a:xfrm>
        </p:spPr>
      </p:pic>
      <p:pic>
        <p:nvPicPr>
          <p:cNvPr id="7" name="Picture 6">
            <a:extLst>
              <a:ext uri="{FF2B5EF4-FFF2-40B4-BE49-F238E27FC236}">
                <a16:creationId xmlns:a16="http://schemas.microsoft.com/office/drawing/2014/main" id="{AD073D4D-B85D-CD7B-4B72-3B9E58310421}"/>
              </a:ext>
            </a:extLst>
          </p:cNvPr>
          <p:cNvPicPr>
            <a:picLocks noChangeAspect="1"/>
          </p:cNvPicPr>
          <p:nvPr/>
        </p:nvPicPr>
        <p:blipFill>
          <a:blip r:embed="rId5"/>
          <a:stretch>
            <a:fillRect/>
          </a:stretch>
        </p:blipFill>
        <p:spPr>
          <a:xfrm>
            <a:off x="3514577" y="1347497"/>
            <a:ext cx="2114845" cy="4163006"/>
          </a:xfrm>
          <a:prstGeom prst="rect">
            <a:avLst/>
          </a:prstGeom>
        </p:spPr>
      </p:pic>
      <p:pic>
        <p:nvPicPr>
          <p:cNvPr id="9" name="Picture 8">
            <a:extLst>
              <a:ext uri="{FF2B5EF4-FFF2-40B4-BE49-F238E27FC236}">
                <a16:creationId xmlns:a16="http://schemas.microsoft.com/office/drawing/2014/main" id="{7496F14F-2213-4ACE-4748-5816C63E8DBC}"/>
              </a:ext>
            </a:extLst>
          </p:cNvPr>
          <p:cNvPicPr>
            <a:picLocks noChangeAspect="1"/>
          </p:cNvPicPr>
          <p:nvPr/>
        </p:nvPicPr>
        <p:blipFill>
          <a:blip r:embed="rId6"/>
          <a:stretch>
            <a:fillRect/>
          </a:stretch>
        </p:blipFill>
        <p:spPr>
          <a:xfrm>
            <a:off x="6613580" y="1335792"/>
            <a:ext cx="2114846" cy="418900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Conclusions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200" dirty="0">
                <a:latin typeface="Times New Roman" panose="02020603050405020304" pitchFamily="18" charset="0"/>
              </a:rPr>
              <a:t>In conclusion, </a:t>
            </a:r>
            <a:r>
              <a:rPr lang="en-US" sz="2200" dirty="0" err="1">
                <a:latin typeface="Times New Roman" panose="02020603050405020304" pitchFamily="18" charset="0"/>
              </a:rPr>
              <a:t>TruthDare</a:t>
            </a:r>
            <a:r>
              <a:rPr lang="en-US" sz="2200" dirty="0">
                <a:latin typeface="Times New Roman" panose="02020603050405020304" pitchFamily="18" charset="0"/>
              </a:rPr>
              <a:t> MAD successfully revitalizes the classic "Spin the Bottle" game for the digital age, offering an engaging and customizable experience for Android users. By integrating a realistic spinning animation, intuitive user interface, and the ability to add personalized content, the application ensures each session is unique and enjoyable. The project's development showcases proficiency in key mobile application development areas, including event-driven programming, animation handling, user data management, and persistent storage using SQLite. Looking ahead, planned enhancements such as multiplayer support and advanced gamification features position </a:t>
            </a:r>
            <a:r>
              <a:rPr lang="en-US" sz="2200" dirty="0" err="1">
                <a:latin typeface="Times New Roman" panose="02020603050405020304" pitchFamily="18" charset="0"/>
              </a:rPr>
              <a:t>TruthDare</a:t>
            </a:r>
            <a:r>
              <a:rPr lang="en-US" sz="2200" dirty="0">
                <a:latin typeface="Times New Roman" panose="02020603050405020304" pitchFamily="18" charset="0"/>
              </a:rPr>
              <a:t> MAD as a scalable and versatile platform for interactive entertainment. Overall, the application not only delivers a fun party game experience but also demonstrates a solid foundation for future growth and innovation in mobile gaming.</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Future Enhancement</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93128794-096D-3663-91D3-898FE8A1673F}"/>
              </a:ext>
            </a:extLst>
          </p:cNvPr>
          <p:cNvSpPr txBox="1"/>
          <p:nvPr/>
        </p:nvSpPr>
        <p:spPr>
          <a:xfrm>
            <a:off x="190500" y="1160748"/>
            <a:ext cx="8763000" cy="5601533"/>
          </a:xfrm>
          <a:prstGeom prst="rect">
            <a:avLst/>
          </a:prstGeom>
          <a:noFill/>
        </p:spPr>
        <p:txBody>
          <a:bodyPr wrap="square" rtlCol="0">
            <a:spAutoFit/>
          </a:bodyPr>
          <a:lstStyle/>
          <a:p>
            <a:pPr>
              <a:buNone/>
            </a:pPr>
            <a:r>
              <a:rPr lang="en-US" sz="2000" b="1" dirty="0">
                <a:latin typeface="Times New Roman" panose="02020603050405020304" pitchFamily="18" charset="0"/>
                <a:cs typeface="Times New Roman" panose="02020603050405020304" pitchFamily="18" charset="0"/>
              </a:rPr>
              <a:t>1. Multiplayer Functionality</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Online Multiplayer:</a:t>
            </a:r>
            <a:r>
              <a:rPr lang="en-US" sz="2000" dirty="0">
                <a:latin typeface="Times New Roman" panose="02020603050405020304" pitchFamily="18" charset="0"/>
                <a:cs typeface="Times New Roman" panose="02020603050405020304" pitchFamily="18" charset="0"/>
              </a:rPr>
              <a:t> Implement real-time online multiplayer capabilities, allowing users to create or join game rooms with friends or other players globally.</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Offline Multiplayer:</a:t>
            </a:r>
            <a:r>
              <a:rPr lang="en-US" sz="2000" dirty="0">
                <a:latin typeface="Times New Roman" panose="02020603050405020304" pitchFamily="18" charset="0"/>
                <a:cs typeface="Times New Roman" panose="02020603050405020304" pitchFamily="18" charset="0"/>
              </a:rPr>
              <a:t> Facilitate local multiplayer sessions where multiple users can play on the same device or through local network connections.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2. AI-Generated Content</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Dynamic Prompt Generation:</a:t>
            </a:r>
            <a:r>
              <a:rPr lang="en-US" sz="2000" dirty="0">
                <a:latin typeface="Times New Roman" panose="02020603050405020304" pitchFamily="18" charset="0"/>
                <a:cs typeface="Times New Roman" panose="02020603050405020304" pitchFamily="18" charset="0"/>
              </a:rPr>
              <a:t> Integrate AI to generate personalized and context-aware truth and dare prompts, ensuring a unique experience each time.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Adaptive Difficulty:</a:t>
            </a:r>
            <a:r>
              <a:rPr lang="en-US" sz="2000" dirty="0">
                <a:latin typeface="Times New Roman" panose="02020603050405020304" pitchFamily="18" charset="0"/>
                <a:cs typeface="Times New Roman" panose="02020603050405020304" pitchFamily="18" charset="0"/>
              </a:rPr>
              <a:t> Employ AI to adjust the complexity of questions based on user interactions and preferences.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3. Gamification Elements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Achievements &amp; Badges:</a:t>
            </a:r>
            <a:r>
              <a:rPr lang="en-US" sz="2000" dirty="0">
                <a:latin typeface="Times New Roman" panose="02020603050405020304" pitchFamily="18" charset="0"/>
                <a:cs typeface="Times New Roman" panose="02020603050405020304" pitchFamily="18" charset="0"/>
              </a:rPr>
              <a:t> Introduce a system where players earn rewards for completing challenges, encouraging continued engagement.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Leaderboards:</a:t>
            </a:r>
            <a:r>
              <a:rPr lang="en-US" sz="2000" dirty="0">
                <a:latin typeface="Times New Roman" panose="02020603050405020304" pitchFamily="18" charset="0"/>
                <a:cs typeface="Times New Roman" panose="02020603050405020304" pitchFamily="18" charset="0"/>
              </a:rPr>
              <a:t> Display top players or groups, fostering a competitive environment.</a:t>
            </a:r>
          </a:p>
          <a:p>
            <a:endParaRPr lang="en-IN"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D0855184-4083-754F-4E2F-B1CB6D80E001}"/>
              </a:ext>
            </a:extLst>
          </p:cNvPr>
          <p:cNvSpPr>
            <a:spLocks noGrp="1" noChangeArrowheads="1"/>
          </p:cNvSpPr>
          <p:nvPr>
            <p:ph idx="1"/>
          </p:nvPr>
        </p:nvSpPr>
        <p:spPr bwMode="auto">
          <a:xfrm>
            <a:off x="190500" y="1303110"/>
            <a:ext cx="876299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rPr>
              <a:t>1. GitHub - </a:t>
            </a:r>
            <a:r>
              <a:rPr kumimoji="0" lang="en-US" altLang="en-US" sz="2000" b="1" i="0" u="none" strike="noStrike" cap="none" normalizeH="0" baseline="0" dirty="0" err="1">
                <a:ln>
                  <a:noFill/>
                </a:ln>
                <a:solidFill>
                  <a:schemeClr val="tx1"/>
                </a:solidFill>
                <a:effectLst/>
                <a:latin typeface="Times New Roman" panose="02020603050405020304" pitchFamily="18" charset="0"/>
              </a:rPr>
              <a:t>TruthorDareApp</a:t>
            </a:r>
            <a:r>
              <a:rPr kumimoji="0" lang="en-US" altLang="en-US" sz="2000" b="1" i="0" u="none" strike="noStrike" cap="none" normalizeH="0" baseline="0" dirty="0">
                <a:ln>
                  <a:noFill/>
                </a:ln>
                <a:solidFill>
                  <a:schemeClr val="tx1"/>
                </a:solidFill>
                <a:effectLst/>
                <a:latin typeface="Times New Roman" panose="02020603050405020304" pitchFamily="18" charset="0"/>
              </a:rPr>
              <a:t>/Truth-or-Dare</a:t>
            </a:r>
            <a:r>
              <a:rPr kumimoji="0" lang="en-US" altLang="en-US" sz="2000" b="0" i="0" u="none" strike="noStrike" cap="none" normalizeH="0" baseline="0" dirty="0">
                <a:ln>
                  <a:noFill/>
                </a:ln>
                <a:solidFill>
                  <a:schemeClr val="tx1"/>
                </a:solidFill>
                <a:effectLst/>
                <a:latin typeface="Times New Roman" panose="02020603050405020304" pitchFamily="18" charset="0"/>
              </a:rPr>
              <a:t>: Social gaming app allowing users to play Truth or Dare online with others.</a:t>
            </a:r>
            <a:br>
              <a:rPr kumimoji="0" lang="en-US" altLang="en-US" sz="2000" b="0" i="0" u="none" strike="noStrike" cap="none" normalizeH="0" baseline="0" dirty="0">
                <a:ln>
                  <a:noFill/>
                </a:ln>
                <a:solidFill>
                  <a:schemeClr val="tx1"/>
                </a:solidFill>
                <a:effectLst/>
                <a:latin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hlinkClick r:id="rId4"/>
              </a:rPr>
              <a:t>https://github.com/TruthorDareApp/Truth-or-Dare</a:t>
            </a:r>
            <a:endParaRPr kumimoji="0" lang="en-US" altLang="en-US" sz="2000"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rPr>
              <a:t>2. IJRASET - Truth or Dare an Android Gaming App</a:t>
            </a:r>
            <a:r>
              <a:rPr kumimoji="0" lang="en-US" altLang="en-US" sz="2000" b="0" i="0" u="none" strike="noStrike" cap="none" normalizeH="0" baseline="0" dirty="0">
                <a:ln>
                  <a:noFill/>
                </a:ln>
                <a:solidFill>
                  <a:schemeClr val="tx1"/>
                </a:solidFill>
                <a:effectLst/>
                <a:latin typeface="Times New Roman" panose="02020603050405020304" pitchFamily="18" charset="0"/>
              </a:rPr>
              <a:t>: Research paper discussing the adaptation of Truth or Dare games to mobile platforms.</a:t>
            </a:r>
            <a:br>
              <a:rPr kumimoji="0" lang="en-US" altLang="en-US" sz="2000" b="0" i="0" u="none" strike="noStrike" cap="none" normalizeH="0" baseline="0" dirty="0">
                <a:ln>
                  <a:noFill/>
                </a:ln>
                <a:solidFill>
                  <a:schemeClr val="tx1"/>
                </a:solidFill>
                <a:effectLst/>
                <a:latin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rPr>
              <a:t>https://www.ijraset.com/research-paper/truth-or-dare-an-android-gaming-app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rPr>
              <a:t>3. Academia.edu - Truth or Dare an Android Gaming App</a:t>
            </a:r>
            <a:r>
              <a:rPr kumimoji="0" lang="en-US" altLang="en-US" sz="2000" b="0" i="0" u="none" strike="noStrike" cap="none" normalizeH="0" baseline="0" dirty="0">
                <a:ln>
                  <a:noFill/>
                </a:ln>
                <a:solidFill>
                  <a:schemeClr val="tx1"/>
                </a:solidFill>
                <a:effectLst/>
                <a:latin typeface="Times New Roman" panose="02020603050405020304" pitchFamily="18" charset="0"/>
              </a:rPr>
              <a:t>: Academic paper exploring the development process and user impact of a Truth or Dare app.</a:t>
            </a:r>
            <a:br>
              <a:rPr kumimoji="0" lang="en-US" altLang="en-US" sz="2000" b="0" i="0" u="none" strike="noStrike" cap="none" normalizeH="0" baseline="0" dirty="0">
                <a:ln>
                  <a:noFill/>
                </a:ln>
                <a:solidFill>
                  <a:schemeClr val="tx1"/>
                </a:solidFill>
                <a:effectLst/>
                <a:latin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rPr>
              <a:t>https://www.academia.edu/105215048/Truth_or_Dare_an_Android_Gaming_App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rPr>
              <a:t>4. Android Ally - 9 Best Truth or Dare Apps for Android in 2025</a:t>
            </a:r>
            <a:r>
              <a:rPr kumimoji="0" lang="en-US" altLang="en-US" sz="2000" b="0" i="0" u="none" strike="noStrike" cap="none" normalizeH="0" baseline="0" dirty="0">
                <a:ln>
                  <a:noFill/>
                </a:ln>
                <a:solidFill>
                  <a:schemeClr val="tx1"/>
                </a:solidFill>
                <a:effectLst/>
                <a:latin typeface="Times New Roman" panose="02020603050405020304" pitchFamily="18" charset="0"/>
              </a:rPr>
              <a:t>: Article reviewing top Truth or Dare apps available on the Play Store.</a:t>
            </a:r>
            <a:br>
              <a:rPr kumimoji="0" lang="en-US" altLang="en-US" sz="2000" b="0" i="0" u="none" strike="noStrike" cap="none" normalizeH="0" baseline="0" dirty="0">
                <a:ln>
                  <a:noFill/>
                </a:ln>
                <a:solidFill>
                  <a:schemeClr val="tx1"/>
                </a:solidFill>
                <a:effectLst/>
                <a:latin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rPr>
              <a:t>https://www.androidally.com/best-truth-or-dare-apps/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rPr>
              <a:t>5. </a:t>
            </a:r>
            <a:r>
              <a:rPr kumimoji="0" lang="en-US" altLang="en-US" sz="2000" b="1" i="0" u="none" strike="noStrike" cap="none" normalizeH="0" baseline="0" dirty="0" err="1">
                <a:ln>
                  <a:noFill/>
                </a:ln>
                <a:solidFill>
                  <a:schemeClr val="tx1"/>
                </a:solidFill>
                <a:effectLst/>
                <a:latin typeface="Times New Roman" panose="02020603050405020304" pitchFamily="18" charset="0"/>
              </a:rPr>
              <a:t>Androidsis</a:t>
            </a:r>
            <a:r>
              <a:rPr kumimoji="0" lang="en-US" altLang="en-US" sz="2000" b="1" i="0" u="none" strike="noStrike" cap="none" normalizeH="0" baseline="0" dirty="0">
                <a:ln>
                  <a:noFill/>
                </a:ln>
                <a:solidFill>
                  <a:schemeClr val="tx1"/>
                </a:solidFill>
                <a:effectLst/>
                <a:latin typeface="Times New Roman" panose="02020603050405020304" pitchFamily="18" charset="0"/>
              </a:rPr>
              <a:t> - The 6 best truth or dare applications for Android</a:t>
            </a:r>
            <a:r>
              <a:rPr kumimoji="0" lang="en-US" altLang="en-US" sz="2000" b="0" i="0" u="none" strike="noStrike" cap="none" normalizeH="0" baseline="0" dirty="0">
                <a:ln>
                  <a:noFill/>
                </a:ln>
                <a:solidFill>
                  <a:schemeClr val="tx1"/>
                </a:solidFill>
                <a:effectLst/>
                <a:latin typeface="Times New Roman" panose="02020603050405020304" pitchFamily="18" charset="0"/>
              </a:rPr>
              <a:t>: Compilation of popular Truth or Dare apps with various features and challenges.</a:t>
            </a:r>
            <a:br>
              <a:rPr kumimoji="0" lang="en-US" altLang="en-US" sz="2000" b="0" i="0" u="none" strike="noStrike" cap="none" normalizeH="0" baseline="0" dirty="0">
                <a:ln>
                  <a:noFill/>
                </a:ln>
                <a:solidFill>
                  <a:schemeClr val="tx1"/>
                </a:solidFill>
                <a:effectLst/>
                <a:latin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rPr>
              <a:t>https://en.androidsis.com/truth-or-dare-apps/</a:t>
            </a: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90782" y="2651428"/>
            <a:ext cx="6562438"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9226</TotalTime>
  <Words>1603</Words>
  <Application>Microsoft Office PowerPoint</Application>
  <PresentationFormat>On-screen Show (4:3)</PresentationFormat>
  <Paragraphs>98</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Main Objective</vt:lpstr>
      <vt:lpstr>Architecture</vt:lpstr>
      <vt:lpstr>System Requirements</vt:lpstr>
      <vt:lpstr>System Requirements</vt:lpstr>
      <vt:lpstr>Functional Description</vt:lpstr>
      <vt:lpstr>Implementation</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Prannov Shabari</cp:lastModifiedBy>
  <cp:revision>1750</cp:revision>
  <dcterms:created xsi:type="dcterms:W3CDTF">2013-05-17T03:00:03Z</dcterms:created>
  <dcterms:modified xsi:type="dcterms:W3CDTF">2025-05-13T16:57:07Z</dcterms:modified>
</cp:coreProperties>
</file>